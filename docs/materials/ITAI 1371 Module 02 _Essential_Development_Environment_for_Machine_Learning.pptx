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00150"/>
            <a:ext cx="428625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Tools of the Trade</a:t>
            </a:r>
            <a:endParaRPr lang="en-US" sz="4050" dirty="0"/>
          </a:p>
        </p:txBody>
      </p:sp>
      <p:sp>
        <p:nvSpPr>
          <p:cNvPr id="5" name="Text 2"/>
          <p:cNvSpPr/>
          <p:nvPr/>
        </p:nvSpPr>
        <p:spPr>
          <a:xfrm>
            <a:off x="285750" y="2886075"/>
            <a:ext cx="42862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Essential Development Environment for Machine Learning</a:t>
            </a:r>
            <a:endParaRPr lang="en-US" sz="20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8" y="785813"/>
            <a:ext cx="3571875" cy="35718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85750" y="4829175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600075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Agenda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428625" y="1407319"/>
            <a:ext cx="357188" cy="357188"/>
          </a:xfrm>
          <a:prstGeom prst="ellipse">
            <a:avLst/>
          </a:prstGeom>
          <a:solidFill>
            <a:srgbClr val="00B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11" y="1582341"/>
            <a:ext cx="125016" cy="71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2969" y="1343025"/>
            <a:ext cx="251398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Libraries &amp; Frameworks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92969" y="1635919"/>
            <a:ext cx="251398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NumPy, Pandas, TensorFlow, PyTorch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428625" y="2107406"/>
            <a:ext cx="357188" cy="357188"/>
          </a:xfrm>
          <a:prstGeom prst="ellipse">
            <a:avLst/>
          </a:prstGeom>
          <a:solidFill>
            <a:srgbClr val="FF00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22" y="2282428"/>
            <a:ext cx="178594" cy="71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2969" y="2043113"/>
            <a:ext cx="224171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Development Environments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92969" y="2336006"/>
            <a:ext cx="224171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Jupyter, VS Code, Cloud Platforms</a:t>
            </a:r>
            <a:endParaRPr lang="en-US" sz="942" dirty="0"/>
          </a:p>
        </p:txBody>
      </p:sp>
      <p:sp>
        <p:nvSpPr>
          <p:cNvPr id="13" name="Shape 8"/>
          <p:cNvSpPr/>
          <p:nvPr/>
        </p:nvSpPr>
        <p:spPr>
          <a:xfrm>
            <a:off x="428625" y="2807494"/>
            <a:ext cx="357188" cy="357188"/>
          </a:xfrm>
          <a:prstGeom prst="ellipse">
            <a:avLst/>
          </a:prstGeom>
          <a:solidFill>
            <a:srgbClr val="FFD70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11" y="2982516"/>
            <a:ext cx="125016" cy="71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2969" y="2743200"/>
            <a:ext cx="254278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Version Control &amp; Collaboration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892969" y="3036094"/>
            <a:ext cx="25427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Git, GitHub, Hugging Face</a:t>
            </a:r>
            <a:endParaRPr lang="en-US" sz="942" dirty="0"/>
          </a:p>
        </p:txBody>
      </p:sp>
      <p:sp>
        <p:nvSpPr>
          <p:cNvPr id="17" name="Shape 11"/>
          <p:cNvSpPr/>
          <p:nvPr/>
        </p:nvSpPr>
        <p:spPr>
          <a:xfrm>
            <a:off x="4714875" y="1407319"/>
            <a:ext cx="357188" cy="357188"/>
          </a:xfrm>
          <a:prstGeom prst="ellipse">
            <a:avLst/>
          </a:prstGeom>
          <a:solidFill>
            <a:srgbClr val="00B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4172" y="1582341"/>
            <a:ext cx="178594" cy="71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79219" y="1343025"/>
            <a:ext cx="238941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Coding Assistants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5179219" y="1635919"/>
            <a:ext cx="238941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GitHub Copilot, Gemini, CodeWhisperer</a:t>
            </a:r>
            <a:endParaRPr lang="en-US" sz="942" dirty="0"/>
          </a:p>
        </p:txBody>
      </p:sp>
      <p:sp>
        <p:nvSpPr>
          <p:cNvPr id="21" name="Shape 14"/>
          <p:cNvSpPr/>
          <p:nvPr/>
        </p:nvSpPr>
        <p:spPr>
          <a:xfrm>
            <a:off x="4714875" y="2107406"/>
            <a:ext cx="357188" cy="357188"/>
          </a:xfrm>
          <a:prstGeom prst="ellipse">
            <a:avLst/>
          </a:prstGeom>
          <a:solidFill>
            <a:srgbClr val="FF00FF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031" y="2282428"/>
            <a:ext cx="142875" cy="71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179219" y="2043113"/>
            <a:ext cx="206409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Setting Up Your Workflow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5179219" y="2336006"/>
            <a:ext cx="20640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Integration, Best Practices</a:t>
            </a:r>
            <a:endParaRPr lang="en-US" sz="942" dirty="0"/>
          </a:p>
        </p:txBody>
      </p:sp>
      <p:sp>
        <p:nvSpPr>
          <p:cNvPr id="25" name="Shape 17"/>
          <p:cNvSpPr/>
          <p:nvPr/>
        </p:nvSpPr>
        <p:spPr>
          <a:xfrm>
            <a:off x="285750" y="4829175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600075"/>
            <a:ext cx="41433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Libraries vs Frameworks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1200150"/>
            <a:ext cx="41433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Both libraries and frameworks are tools that help developers build ML applications more efficiently, but they serve different purposes. </a:t>
            </a:r>
            <a:endParaRPr lang="en-US" sz="1046" dirty="0"/>
          </a:p>
        </p:txBody>
      </p:sp>
      <p:sp>
        <p:nvSpPr>
          <p:cNvPr id="6" name="Shape 3"/>
          <p:cNvSpPr/>
          <p:nvPr/>
        </p:nvSpPr>
        <p:spPr>
          <a:xfrm>
            <a:off x="285750" y="2057400"/>
            <a:ext cx="2071688" cy="2235994"/>
          </a:xfrm>
          <a:prstGeom prst="rect">
            <a:avLst/>
          </a:prstGeom>
          <a:solidFill>
            <a:srgbClr val="00BFFF">
              <a:alpha val="2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2200275"/>
            <a:ext cx="17859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Libraries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693194"/>
            <a:ext cx="128588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8650" y="2564606"/>
            <a:ext cx="15859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Collections of pre-written code </a:t>
            </a:r>
            <a:endParaRPr lang="en-US" sz="94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3089672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8650" y="3057525"/>
            <a:ext cx="143388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You call the library code </a:t>
            </a:r>
            <a:endParaRPr lang="en-US" sz="942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389709"/>
            <a:ext cx="128588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8650" y="3357563"/>
            <a:ext cx="12845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Focused functionality </a:t>
            </a:r>
            <a:endParaRPr lang="en-US" sz="942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689747"/>
            <a:ext cx="128588" cy="128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28650" y="3657600"/>
            <a:ext cx="103347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Greater flexibility </a:t>
            </a:r>
            <a:endParaRPr lang="en-US" sz="942" dirty="0"/>
          </a:p>
        </p:txBody>
      </p:sp>
      <p:sp>
        <p:nvSpPr>
          <p:cNvPr id="16" name="Shape 9"/>
          <p:cNvSpPr/>
          <p:nvPr/>
        </p:nvSpPr>
        <p:spPr>
          <a:xfrm>
            <a:off x="2357438" y="2057400"/>
            <a:ext cx="2071688" cy="2235994"/>
          </a:xfrm>
          <a:prstGeom prst="rect">
            <a:avLst/>
          </a:prstGeom>
          <a:solidFill>
            <a:srgbClr val="FF00FF">
              <a:alpha val="20000"/>
            </a:srgbClr>
          </a:solidFill>
          <a:ln/>
        </p:spPr>
      </p:sp>
      <p:sp>
        <p:nvSpPr>
          <p:cNvPr id="17" name="Text 10"/>
          <p:cNvSpPr/>
          <p:nvPr/>
        </p:nvSpPr>
        <p:spPr>
          <a:xfrm>
            <a:off x="2500313" y="2200275"/>
            <a:ext cx="17859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Frameworks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0313" y="2693194"/>
            <a:ext cx="128588" cy="128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700338" y="2564606"/>
            <a:ext cx="15859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Comprehensive development structures </a:t>
            </a:r>
            <a:endParaRPr lang="en-US" sz="942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0313" y="3186113"/>
            <a:ext cx="128588" cy="1285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2700338" y="3057525"/>
            <a:ext cx="15859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Framework calls your code </a:t>
            </a:r>
            <a:endParaRPr lang="en-US" sz="942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0313" y="3582591"/>
            <a:ext cx="128588" cy="12858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2700338" y="3550444"/>
            <a:ext cx="125208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End-to-end solutions </a:t>
            </a:r>
            <a:endParaRPr lang="en-US" sz="942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0313" y="3882628"/>
            <a:ext cx="128588" cy="12858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2700338" y="3850481"/>
            <a:ext cx="1400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Standardized approach </a:t>
            </a:r>
            <a:endParaRPr lang="en-US" sz="942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0625" y="785813"/>
            <a:ext cx="3571875" cy="357187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285750" y="4829175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57498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600075"/>
            <a:ext cx="41433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Essential ML Libraries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1200150"/>
            <a:ext cx="4143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Collections of functions and methods that allow you to perform specific tasks without writing code from scratch. </a:t>
            </a:r>
            <a:endParaRPr lang="en-US" sz="1046" dirty="0"/>
          </a:p>
        </p:txBody>
      </p:sp>
      <p:sp>
        <p:nvSpPr>
          <p:cNvPr id="6" name="Shape 3"/>
          <p:cNvSpPr/>
          <p:nvPr/>
        </p:nvSpPr>
        <p:spPr>
          <a:xfrm>
            <a:off x="285750" y="1843088"/>
            <a:ext cx="4143375" cy="965802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92906" y="2147395"/>
            <a:ext cx="357188" cy="357188"/>
          </a:xfrm>
          <a:prstGeom prst="rect">
            <a:avLst/>
          </a:prstGeom>
          <a:solidFill>
            <a:srgbClr val="00B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" y="2240263"/>
            <a:ext cx="128588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7250" y="1950244"/>
            <a:ext cx="346471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NumPy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857250" y="2221706"/>
            <a:ext cx="34647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Fundamental package for scientific computing with Python. Provides support for arrays, matrices, and mathematical functions.</a:t>
            </a:r>
            <a:endParaRPr lang="en-US" sz="837" dirty="0"/>
          </a:p>
        </p:txBody>
      </p:sp>
      <p:sp>
        <p:nvSpPr>
          <p:cNvPr id="11" name="Shape 7"/>
          <p:cNvSpPr/>
          <p:nvPr/>
        </p:nvSpPr>
        <p:spPr>
          <a:xfrm>
            <a:off x="285750" y="2951764"/>
            <a:ext cx="4143375" cy="965802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392906" y="3256071"/>
            <a:ext cx="357188" cy="357188"/>
          </a:xfrm>
          <a:prstGeom prst="rect">
            <a:avLst/>
          </a:prstGeom>
          <a:solidFill>
            <a:srgbClr val="00B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348940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7250" y="3058920"/>
            <a:ext cx="346471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Pandas</a:t>
            </a:r>
            <a:endParaRPr lang="en-US" sz="1238" dirty="0"/>
          </a:p>
        </p:txBody>
      </p:sp>
      <p:sp>
        <p:nvSpPr>
          <p:cNvPr id="15" name="Text 10"/>
          <p:cNvSpPr/>
          <p:nvPr/>
        </p:nvSpPr>
        <p:spPr>
          <a:xfrm>
            <a:off x="857250" y="3330383"/>
            <a:ext cx="34647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manipulation and analysis library. Offers data structures and operations for manipulating numerical tables and time series.</a:t>
            </a:r>
            <a:endParaRPr lang="en-US" sz="837" dirty="0"/>
          </a:p>
        </p:txBody>
      </p:sp>
      <p:sp>
        <p:nvSpPr>
          <p:cNvPr id="16" name="Shape 11"/>
          <p:cNvSpPr/>
          <p:nvPr/>
        </p:nvSpPr>
        <p:spPr>
          <a:xfrm>
            <a:off x="285750" y="4060441"/>
            <a:ext cx="4143375" cy="965802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392906" y="4364748"/>
            <a:ext cx="357188" cy="357188"/>
          </a:xfrm>
          <a:prstGeom prst="rect">
            <a:avLst/>
          </a:prstGeom>
          <a:solidFill>
            <a:srgbClr val="00B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457616"/>
            <a:ext cx="171450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7250" y="4167597"/>
            <a:ext cx="346471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Scikit-learn</a:t>
            </a:r>
            <a:endParaRPr lang="en-US" sz="1238" dirty="0"/>
          </a:p>
        </p:txBody>
      </p:sp>
      <p:sp>
        <p:nvSpPr>
          <p:cNvPr id="20" name="Text 14"/>
          <p:cNvSpPr/>
          <p:nvPr/>
        </p:nvSpPr>
        <p:spPr>
          <a:xfrm>
            <a:off x="857250" y="4439059"/>
            <a:ext cx="34647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Machine learning library featuring various classification, regression, and clustering algorithms. Built on NumPy, SciPy, and matplotlib.</a:t>
            </a:r>
            <a:endParaRPr lang="en-US" sz="837" dirty="0"/>
          </a:p>
        </p:txBody>
      </p:sp>
      <p:sp>
        <p:nvSpPr>
          <p:cNvPr id="21" name="Shape 15"/>
          <p:cNvSpPr/>
          <p:nvPr/>
        </p:nvSpPr>
        <p:spPr>
          <a:xfrm>
            <a:off x="285750" y="5169117"/>
            <a:ext cx="4143375" cy="805793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392906" y="5393420"/>
            <a:ext cx="357188" cy="357188"/>
          </a:xfrm>
          <a:prstGeom prst="rect">
            <a:avLst/>
          </a:prstGeom>
          <a:solidFill>
            <a:srgbClr val="00BF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486288"/>
            <a:ext cx="171450" cy="1714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57250" y="5276273"/>
            <a:ext cx="346471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Matplotlib/Seaborn</a:t>
            </a:r>
            <a:endParaRPr lang="en-US" sz="1238" dirty="0"/>
          </a:p>
        </p:txBody>
      </p:sp>
      <p:sp>
        <p:nvSpPr>
          <p:cNvPr id="25" name="Text 18"/>
          <p:cNvSpPr/>
          <p:nvPr/>
        </p:nvSpPr>
        <p:spPr>
          <a:xfrm>
            <a:off x="857250" y="5547736"/>
            <a:ext cx="346471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Visualization libraries for creating static, animated, and interactive visualizations in Python.</a:t>
            </a:r>
            <a:endParaRPr lang="en-US" sz="837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1501555"/>
            <a:ext cx="3571875" cy="3571875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285750" y="6260660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676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528638"/>
            <a:ext cx="41433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Popular ML Frameworks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1057275"/>
            <a:ext cx="41433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Collections of pre-built tools, libraries, and APIs that help developers create machine learning models and applications more efficiently. </a:t>
            </a:r>
            <a:endParaRPr lang="en-US" sz="1046" dirty="0"/>
          </a:p>
        </p:txBody>
      </p:sp>
      <p:sp>
        <p:nvSpPr>
          <p:cNvPr id="6" name="Shape 3"/>
          <p:cNvSpPr/>
          <p:nvPr/>
        </p:nvSpPr>
        <p:spPr>
          <a:xfrm>
            <a:off x="285750" y="1800225"/>
            <a:ext cx="4143375" cy="704329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71475" y="1991655"/>
            <a:ext cx="321469" cy="321469"/>
          </a:xfrm>
          <a:prstGeom prst="rect">
            <a:avLst/>
          </a:prstGeom>
          <a:solidFill>
            <a:srgbClr val="FF00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83" y="2073808"/>
            <a:ext cx="196453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0100" y="1885950"/>
            <a:ext cx="35433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TensorFlow</a:t>
            </a:r>
            <a:endParaRPr lang="en-US" sz="1046" dirty="0"/>
          </a:p>
        </p:txBody>
      </p:sp>
      <p:sp>
        <p:nvSpPr>
          <p:cNvPr id="10" name="Text 6"/>
          <p:cNvSpPr/>
          <p:nvPr/>
        </p:nvSpPr>
        <p:spPr>
          <a:xfrm>
            <a:off x="800100" y="2121694"/>
            <a:ext cx="35433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Google's open-source platform for machine learning with production-ready deployment capabilities.</a:t>
            </a:r>
            <a:endParaRPr lang="en-US" sz="837" dirty="0"/>
          </a:p>
        </p:txBody>
      </p:sp>
      <p:sp>
        <p:nvSpPr>
          <p:cNvPr id="11" name="Shape 7"/>
          <p:cNvSpPr/>
          <p:nvPr/>
        </p:nvSpPr>
        <p:spPr>
          <a:xfrm>
            <a:off x="285750" y="2611710"/>
            <a:ext cx="4143375" cy="704329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371475" y="2803141"/>
            <a:ext cx="321469" cy="321469"/>
          </a:xfrm>
          <a:prstGeom prst="rect">
            <a:avLst/>
          </a:prstGeom>
          <a:solidFill>
            <a:srgbClr val="FF00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51" y="2885294"/>
            <a:ext cx="137517" cy="1571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100" y="2697435"/>
            <a:ext cx="35433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PyTorch</a:t>
            </a:r>
            <a:endParaRPr lang="en-US" sz="1046" dirty="0"/>
          </a:p>
        </p:txBody>
      </p:sp>
      <p:sp>
        <p:nvSpPr>
          <p:cNvPr id="15" name="Text 10"/>
          <p:cNvSpPr/>
          <p:nvPr/>
        </p:nvSpPr>
        <p:spPr>
          <a:xfrm>
            <a:off x="800100" y="2933179"/>
            <a:ext cx="35433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Facebook's deep learning framework known for its flexibility, dynamic computation graph, and research focus.</a:t>
            </a:r>
            <a:endParaRPr lang="en-US" sz="837" dirty="0"/>
          </a:p>
        </p:txBody>
      </p:sp>
      <p:sp>
        <p:nvSpPr>
          <p:cNvPr id="16" name="Shape 11"/>
          <p:cNvSpPr/>
          <p:nvPr/>
        </p:nvSpPr>
        <p:spPr>
          <a:xfrm>
            <a:off x="285750" y="3423196"/>
            <a:ext cx="4143375" cy="704329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371475" y="3614626"/>
            <a:ext cx="321469" cy="321469"/>
          </a:xfrm>
          <a:prstGeom prst="rect">
            <a:avLst/>
          </a:prstGeom>
          <a:solidFill>
            <a:srgbClr val="FF00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28" y="3696779"/>
            <a:ext cx="157163" cy="15716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0100" y="3508921"/>
            <a:ext cx="35433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Keras</a:t>
            </a:r>
            <a:endParaRPr lang="en-US" sz="1046" dirty="0"/>
          </a:p>
        </p:txBody>
      </p:sp>
      <p:sp>
        <p:nvSpPr>
          <p:cNvPr id="20" name="Text 14"/>
          <p:cNvSpPr/>
          <p:nvPr/>
        </p:nvSpPr>
        <p:spPr>
          <a:xfrm>
            <a:off x="800100" y="3744664"/>
            <a:ext cx="35433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High-level neural networks API that runs on top of TensorFlow, designed for rapid prototyping.</a:t>
            </a:r>
            <a:endParaRPr lang="en-US" sz="837" dirty="0"/>
          </a:p>
        </p:txBody>
      </p:sp>
      <p:sp>
        <p:nvSpPr>
          <p:cNvPr id="21" name="Shape 15"/>
          <p:cNvSpPr/>
          <p:nvPr/>
        </p:nvSpPr>
        <p:spPr>
          <a:xfrm>
            <a:off x="285750" y="4234681"/>
            <a:ext cx="4143375" cy="704329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371475" y="4426111"/>
            <a:ext cx="321469" cy="321469"/>
          </a:xfrm>
          <a:prstGeom prst="rect">
            <a:avLst/>
          </a:prstGeom>
          <a:solidFill>
            <a:srgbClr val="FF00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73" y="4508264"/>
            <a:ext cx="117872" cy="15716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0100" y="4320406"/>
            <a:ext cx="35433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Fastai</a:t>
            </a:r>
            <a:endParaRPr lang="en-US" sz="1046" dirty="0"/>
          </a:p>
        </p:txBody>
      </p:sp>
      <p:sp>
        <p:nvSpPr>
          <p:cNvPr id="25" name="Text 18"/>
          <p:cNvSpPr/>
          <p:nvPr/>
        </p:nvSpPr>
        <p:spPr>
          <a:xfrm>
            <a:off x="800100" y="4556150"/>
            <a:ext cx="35433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Simplifies training neural nets using modern best practices, built on PyTorch.</a:t>
            </a:r>
            <a:endParaRPr lang="en-US" sz="837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9219" y="1126480"/>
            <a:ext cx="3214688" cy="321468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285750" y="5153323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528638"/>
            <a:ext cx="41433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Jupyter Notebooks &amp; JupyterLab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1057275"/>
            <a:ext cx="41433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Interactive development environments that combine code execution, rich text, mathematics, plots and rich media in a single document. 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285750" y="1778794"/>
            <a:ext cx="2000250" cy="2193131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921669"/>
            <a:ext cx="1714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Jupyter Notebooks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400300"/>
            <a:ext cx="142875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2938" y="2286000"/>
            <a:ext cx="1500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Interactive code cells with immediate execution </a:t>
            </a:r>
            <a:endParaRPr lang="en-US" sz="837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828925"/>
            <a:ext cx="85725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5788" y="2714625"/>
            <a:ext cx="15573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Markdown support for documentation </a:t>
            </a:r>
            <a:endParaRPr lang="en-US" sz="837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171825"/>
            <a:ext cx="114300" cy="1143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4363" y="3143250"/>
            <a:ext cx="15258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Inline visualization of results </a:t>
            </a:r>
            <a:endParaRPr lang="en-US" sz="837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514725"/>
            <a:ext cx="100013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00075" y="3400425"/>
            <a:ext cx="1543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Easy sharing and collaboration </a:t>
            </a:r>
            <a:endParaRPr lang="en-US" sz="837" dirty="0"/>
          </a:p>
        </p:txBody>
      </p:sp>
      <p:sp>
        <p:nvSpPr>
          <p:cNvPr id="16" name="Shape 9"/>
          <p:cNvSpPr/>
          <p:nvPr/>
        </p:nvSpPr>
        <p:spPr>
          <a:xfrm>
            <a:off x="2428875" y="1778794"/>
            <a:ext cx="2000250" cy="2193131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sp>
        <p:nvSpPr>
          <p:cNvPr id="17" name="Text 10"/>
          <p:cNvSpPr/>
          <p:nvPr/>
        </p:nvSpPr>
        <p:spPr>
          <a:xfrm>
            <a:off x="2571750" y="1921669"/>
            <a:ext cx="1714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JupyterLab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1750" y="2400300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757488" y="2286000"/>
            <a:ext cx="1528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Flexible interface with tabs and panels </a:t>
            </a:r>
            <a:endParaRPr lang="en-US" sz="837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1750" y="2743200"/>
            <a:ext cx="128588" cy="1143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2771775" y="2714625"/>
            <a:ext cx="14312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Integrated terminal access </a:t>
            </a:r>
            <a:endParaRPr lang="en-US" sz="837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1750" y="3086100"/>
            <a:ext cx="85725" cy="1143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2728913" y="2971800"/>
            <a:ext cx="15573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Full text editor with syntax highlighting </a:t>
            </a:r>
            <a:endParaRPr lang="en-US" sz="837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71750" y="3514725"/>
            <a:ext cx="128588" cy="1143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2771775" y="3400425"/>
            <a:ext cx="1514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File browser and multiple document views </a:t>
            </a:r>
            <a:endParaRPr lang="en-US" sz="837" dirty="0"/>
          </a:p>
        </p:txBody>
      </p:sp>
      <p:sp>
        <p:nvSpPr>
          <p:cNvPr id="26" name="Text 15"/>
          <p:cNvSpPr/>
          <p:nvPr/>
        </p:nvSpPr>
        <p:spPr>
          <a:xfrm>
            <a:off x="285750" y="4114800"/>
            <a:ext cx="4143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Perfect for data exploration, prototyping, and creating reproducible research. </a:t>
            </a:r>
            <a:endParaRPr lang="en-US" sz="942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79219" y="978694"/>
            <a:ext cx="3214688" cy="3214688"/>
          </a:xfrm>
          <a:prstGeom prst="rect">
            <a:avLst/>
          </a:prstGeom>
        </p:spPr>
      </p:pic>
      <p:sp>
        <p:nvSpPr>
          <p:cNvPr id="28" name="Shape 16"/>
          <p:cNvSpPr/>
          <p:nvPr/>
        </p:nvSpPr>
        <p:spPr>
          <a:xfrm>
            <a:off x="285750" y="4857750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24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492919"/>
            <a:ext cx="55721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Colab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85750" y="1028700"/>
            <a:ext cx="55721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Google Colaboratory (Colab) is Google's free cloud-based version of Jupyter notebooks, designed specifically for machine learning and data science. </a:t>
            </a:r>
            <a:endParaRPr lang="en-US" sz="1046" dirty="0"/>
          </a:p>
        </p:txBody>
      </p:sp>
      <p:sp>
        <p:nvSpPr>
          <p:cNvPr id="6" name="Shape 3"/>
          <p:cNvSpPr/>
          <p:nvPr/>
        </p:nvSpPr>
        <p:spPr>
          <a:xfrm>
            <a:off x="285750" y="1571625"/>
            <a:ext cx="5572125" cy="867240"/>
          </a:xfrm>
          <a:prstGeom prst="rect">
            <a:avLst/>
          </a:prstGeom>
          <a:solidFill>
            <a:srgbClr val="00BFFF">
              <a:alpha val="2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85750" y="1571625"/>
            <a:ext cx="28575" cy="867240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8" name="Text 5"/>
          <p:cNvSpPr/>
          <p:nvPr/>
        </p:nvSpPr>
        <p:spPr>
          <a:xfrm>
            <a:off x="392906" y="1678781"/>
            <a:ext cx="53578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is Google Colab?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392906" y="1971675"/>
            <a:ext cx="53578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Think of it as "Jupyter notebooks in the cloud" - you get all the power of Jupyter but running on Google's servers with free GPU access!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285750" y="2581740"/>
            <a:ext cx="2714625" cy="1643063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85750" y="2581740"/>
            <a:ext cx="28575" cy="1643063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2" name="Text 9"/>
          <p:cNvSpPr/>
          <p:nvPr/>
        </p:nvSpPr>
        <p:spPr>
          <a:xfrm>
            <a:off x="392906" y="2688896"/>
            <a:ext cx="24860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Traditional Jupyter</a:t>
            </a:r>
            <a:endParaRPr lang="en-US" sz="1046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6" y="3003221"/>
            <a:ext cx="142875" cy="1143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2931" y="2980004"/>
            <a:ext cx="118697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Runs on your computer </a:t>
            </a:r>
            <a:endParaRPr lang="en-US" sz="785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6" y="3231821"/>
            <a:ext cx="114300" cy="114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4356" y="3208604"/>
            <a:ext cx="102537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Requires installation </a:t>
            </a:r>
            <a:endParaRPr lang="en-US" sz="785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3460421"/>
            <a:ext cx="114300" cy="1143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4356" y="3437204"/>
            <a:ext cx="128986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Limited by your hardware </a:t>
            </a:r>
            <a:endParaRPr lang="en-US" sz="785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3689021"/>
            <a:ext cx="114300" cy="1143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64356" y="3665804"/>
            <a:ext cx="9156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Files stored locally </a:t>
            </a:r>
            <a:endParaRPr lang="en-US" sz="785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3917621"/>
            <a:ext cx="114300" cy="1143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64356" y="3894404"/>
            <a:ext cx="153289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Manual package management </a:t>
            </a:r>
            <a:endParaRPr lang="en-US" sz="785" dirty="0"/>
          </a:p>
        </p:txBody>
      </p:sp>
      <p:sp>
        <p:nvSpPr>
          <p:cNvPr id="23" name="Shape 15"/>
          <p:cNvSpPr/>
          <p:nvPr/>
        </p:nvSpPr>
        <p:spPr>
          <a:xfrm>
            <a:off x="3128963" y="2581740"/>
            <a:ext cx="2728913" cy="1643063"/>
          </a:xfrm>
          <a:prstGeom prst="rect">
            <a:avLst/>
          </a:prstGeom>
          <a:solidFill>
            <a:srgbClr val="FFD700">
              <a:alpha val="10000"/>
            </a:srgbClr>
          </a:solidFill>
          <a:ln/>
        </p:spPr>
      </p:sp>
      <p:sp>
        <p:nvSpPr>
          <p:cNvPr id="24" name="Shape 16"/>
          <p:cNvSpPr/>
          <p:nvPr/>
        </p:nvSpPr>
        <p:spPr>
          <a:xfrm>
            <a:off x="3128963" y="2581740"/>
            <a:ext cx="28575" cy="1643063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5" name="Text 17"/>
          <p:cNvSpPr/>
          <p:nvPr/>
        </p:nvSpPr>
        <p:spPr>
          <a:xfrm>
            <a:off x="3250406" y="2688896"/>
            <a:ext cx="2500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D7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Colab</a:t>
            </a:r>
            <a:endParaRPr lang="en-US" sz="1046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0406" y="3003221"/>
            <a:ext cx="142875" cy="1143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450431" y="2980004"/>
            <a:ext cx="86927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Runs in the cloud </a:t>
            </a:r>
            <a:endParaRPr lang="en-US" sz="785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0406" y="3231821"/>
            <a:ext cx="114300" cy="1143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421856" y="3208604"/>
            <a:ext cx="103129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Just open in browser </a:t>
            </a:r>
            <a:endParaRPr lang="en-US" sz="785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0406" y="3460421"/>
            <a:ext cx="114300" cy="1143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421856" y="3437204"/>
            <a:ext cx="106419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Free GPU/TPU access </a:t>
            </a:r>
            <a:endParaRPr lang="en-US" sz="785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0406" y="3689021"/>
            <a:ext cx="100013" cy="11430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3407569" y="3665804"/>
            <a:ext cx="136412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Auto-saves to Google Drive </a:t>
            </a:r>
            <a:endParaRPr lang="en-US" sz="785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0406" y="3917621"/>
            <a:ext cx="100013" cy="11430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3407569" y="3894404"/>
            <a:ext cx="124365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Pre-installed ML libraries </a:t>
            </a:r>
            <a:endParaRPr lang="en-US" sz="785" dirty="0"/>
          </a:p>
        </p:txBody>
      </p:sp>
      <p:sp>
        <p:nvSpPr>
          <p:cNvPr id="36" name="Shape 23"/>
          <p:cNvSpPr/>
          <p:nvPr/>
        </p:nvSpPr>
        <p:spPr>
          <a:xfrm>
            <a:off x="285750" y="4367678"/>
            <a:ext cx="5572125" cy="364331"/>
          </a:xfrm>
          <a:prstGeom prst="rect">
            <a:avLst/>
          </a:prstGeom>
          <a:solidFill>
            <a:srgbClr val="00BFFF">
              <a:alpha val="20000"/>
            </a:srgbClr>
          </a:solidFill>
          <a:ln/>
        </p:spPr>
      </p:sp>
      <p:sp>
        <p:nvSpPr>
          <p:cNvPr id="37" name="Shape 24"/>
          <p:cNvSpPr/>
          <p:nvPr/>
        </p:nvSpPr>
        <p:spPr>
          <a:xfrm>
            <a:off x="285750" y="4367678"/>
            <a:ext cx="28575" cy="364331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38" name="Text 25"/>
          <p:cNvSpPr/>
          <p:nvPr/>
        </p:nvSpPr>
        <p:spPr>
          <a:xfrm>
            <a:off x="371475" y="4453403"/>
            <a:ext cx="54006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Perfect for beginners - no setup required, just start coding!</a:t>
            </a:r>
            <a:endParaRPr lang="en-US" sz="942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5063" y="1362308"/>
            <a:ext cx="2500313" cy="2500313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285750" y="4910603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720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528638"/>
            <a:ext cx="55721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Cloud Development Environments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85750" y="1100138"/>
            <a:ext cx="55721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Cloud-based platforms provide ready-to-use environments for ML development without local setup or hardware constraints - perfect for students with limited computing resources. </a:t>
            </a:r>
            <a:endParaRPr lang="en-US" sz="1046" dirty="0"/>
          </a:p>
        </p:txBody>
      </p:sp>
      <p:sp>
        <p:nvSpPr>
          <p:cNvPr id="6" name="Shape 3"/>
          <p:cNvSpPr/>
          <p:nvPr/>
        </p:nvSpPr>
        <p:spPr>
          <a:xfrm>
            <a:off x="285750" y="1921669"/>
            <a:ext cx="5572125" cy="881528"/>
          </a:xfrm>
          <a:prstGeom prst="rect">
            <a:avLst/>
          </a:prstGeom>
          <a:solidFill>
            <a:srgbClr val="FFD700">
              <a:alpha val="2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85750" y="1921669"/>
            <a:ext cx="28575" cy="88152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8" name="Text 5"/>
          <p:cNvSpPr/>
          <p:nvPr/>
        </p:nvSpPr>
        <p:spPr>
          <a:xfrm>
            <a:off x="392906" y="2028825"/>
            <a:ext cx="53578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D7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This Course We'll Use: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392906" y="2336006"/>
            <a:ext cx="53578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Colab and AWS SageMaker Studio Lab - both are FREE and designed specifically for students and learning!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285750" y="2981790"/>
            <a:ext cx="5572125" cy="1177240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92906" y="3088946"/>
            <a:ext cx="357188" cy="357188"/>
          </a:xfrm>
          <a:prstGeom prst="rect">
            <a:avLst/>
          </a:prstGeom>
          <a:solidFill>
            <a:srgbClr val="00B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47" y="3181815"/>
            <a:ext cx="164306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7250" y="3088946"/>
            <a:ext cx="489346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Colab (Primary)</a:t>
            </a:r>
            <a:endParaRPr lang="en-US" sz="1238" dirty="0"/>
          </a:p>
        </p:txBody>
      </p:sp>
      <p:sp>
        <p:nvSpPr>
          <p:cNvPr id="14" name="Text 10"/>
          <p:cNvSpPr/>
          <p:nvPr/>
        </p:nvSpPr>
        <p:spPr>
          <a:xfrm>
            <a:off x="857250" y="3360409"/>
            <a:ext cx="4893469" cy="473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89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Free Jupyter notebook environment with GPU/TPU access, pre-installed ML libraries, and seamless Google Drive integration. No installation required - just open in your browser!</a:t>
            </a:r>
            <a:endParaRPr lang="en-US" sz="889" dirty="0"/>
          </a:p>
        </p:txBody>
      </p:sp>
      <p:sp>
        <p:nvSpPr>
          <p:cNvPr id="15" name="Text 11"/>
          <p:cNvSpPr/>
          <p:nvPr/>
        </p:nvSpPr>
        <p:spPr>
          <a:xfrm>
            <a:off x="857250" y="3891139"/>
            <a:ext cx="4893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i="1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12+ hours of free GPU time ✓ Built-in Gemini AI assistant ✓ Easy sharing and collaboration</a:t>
            </a:r>
            <a:endParaRPr lang="en-US" sz="785" dirty="0"/>
          </a:p>
        </p:txBody>
      </p:sp>
      <p:sp>
        <p:nvSpPr>
          <p:cNvPr id="16" name="Shape 12"/>
          <p:cNvSpPr/>
          <p:nvPr/>
        </p:nvSpPr>
        <p:spPr>
          <a:xfrm>
            <a:off x="285750" y="4266186"/>
            <a:ext cx="5572125" cy="1177240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392906" y="4373342"/>
            <a:ext cx="357188" cy="357188"/>
          </a:xfrm>
          <a:prstGeom prst="rect">
            <a:avLst/>
          </a:prstGeom>
          <a:solidFill>
            <a:srgbClr val="00B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4" y="4466211"/>
            <a:ext cx="214313" cy="171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7250" y="4373342"/>
            <a:ext cx="489346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AWS SageMaker Studio Lab (Secondary)</a:t>
            </a:r>
            <a:endParaRPr lang="en-US" sz="1238" dirty="0"/>
          </a:p>
        </p:txBody>
      </p:sp>
      <p:sp>
        <p:nvSpPr>
          <p:cNvPr id="20" name="Text 15"/>
          <p:cNvSpPr/>
          <p:nvPr/>
        </p:nvSpPr>
        <p:spPr>
          <a:xfrm>
            <a:off x="857250" y="4644805"/>
            <a:ext cx="4893469" cy="473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89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Amazon's free ML development environment with persistent storage, pre-configured environments, and professional-grade tools. More powerful than Colab for larger projects.</a:t>
            </a:r>
            <a:endParaRPr lang="en-US" sz="889" dirty="0"/>
          </a:p>
        </p:txBody>
      </p:sp>
      <p:sp>
        <p:nvSpPr>
          <p:cNvPr id="21" name="Text 16"/>
          <p:cNvSpPr/>
          <p:nvPr/>
        </p:nvSpPr>
        <p:spPr>
          <a:xfrm>
            <a:off x="857250" y="5175535"/>
            <a:ext cx="489346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i="1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15GB persistent storage ✓ More compute time ✓ Professional ML tools ✓ No credit card required</a:t>
            </a:r>
            <a:endParaRPr lang="en-US" sz="785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3" y="1735875"/>
            <a:ext cx="2500313" cy="2500313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285750" y="5657738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521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492919"/>
            <a:ext cx="55721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Local Development: VS Code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85750" y="1028700"/>
            <a:ext cx="55721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 students who want to work on their own computers, we'll use VS Code - a free, powerful code editor. </a:t>
            </a:r>
            <a:endParaRPr lang="en-US" sz="1046" dirty="0"/>
          </a:p>
        </p:txBody>
      </p:sp>
      <p:sp>
        <p:nvSpPr>
          <p:cNvPr id="6" name="Shape 3"/>
          <p:cNvSpPr/>
          <p:nvPr/>
        </p:nvSpPr>
        <p:spPr>
          <a:xfrm>
            <a:off x="285750" y="1571625"/>
            <a:ext cx="5572125" cy="867240"/>
          </a:xfrm>
          <a:prstGeom prst="rect">
            <a:avLst/>
          </a:prstGeom>
          <a:solidFill>
            <a:srgbClr val="00BFFF">
              <a:alpha val="2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85750" y="1571625"/>
            <a:ext cx="28575" cy="867240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8" name="Text 5"/>
          <p:cNvSpPr/>
          <p:nvPr/>
        </p:nvSpPr>
        <p:spPr>
          <a:xfrm>
            <a:off x="392906" y="1678781"/>
            <a:ext cx="53578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What's an IDE?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392906" y="1971675"/>
            <a:ext cx="53578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 = Integrated Development Environment. Think of it as Microsoft Word, but for writing code instead of documents!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285750" y="2581740"/>
            <a:ext cx="5572125" cy="591480"/>
          </a:xfrm>
          <a:prstGeom prst="rect">
            <a:avLst/>
          </a:prstGeom>
          <a:solidFill>
            <a:srgbClr val="FFD700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85750" y="2581740"/>
            <a:ext cx="28575" cy="5914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2" name="Text 9"/>
          <p:cNvSpPr/>
          <p:nvPr/>
        </p:nvSpPr>
        <p:spPr>
          <a:xfrm>
            <a:off x="371475" y="2667465"/>
            <a:ext cx="54006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D7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HCC Lab Computers: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371475" y="2938928"/>
            <a:ext cx="54006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VS Code is already installed! You may need to add Python and Jupyter extensions.</a:t>
            </a:r>
            <a:endParaRPr lang="en-US" sz="837" dirty="0"/>
          </a:p>
        </p:txBody>
      </p:sp>
      <p:sp>
        <p:nvSpPr>
          <p:cNvPr id="14" name="Shape 11"/>
          <p:cNvSpPr/>
          <p:nvPr/>
        </p:nvSpPr>
        <p:spPr>
          <a:xfrm>
            <a:off x="285750" y="3316095"/>
            <a:ext cx="5572125" cy="496491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57188" y="3439325"/>
            <a:ext cx="250031" cy="250031"/>
          </a:xfrm>
          <a:prstGeom prst="ellipse">
            <a:avLst/>
          </a:prstGeom>
          <a:solidFill>
            <a:srgbClr val="FF00FF"/>
          </a:solidFill>
          <a:ln/>
        </p:spPr>
      </p:sp>
      <p:sp>
        <p:nvSpPr>
          <p:cNvPr id="16" name="Text 13"/>
          <p:cNvSpPr/>
          <p:nvPr/>
        </p:nvSpPr>
        <p:spPr>
          <a:xfrm>
            <a:off x="357188" y="3439325"/>
            <a:ext cx="25003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692944" y="3387533"/>
            <a:ext cx="50934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 Python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692944" y="3601845"/>
            <a:ext cx="50934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Download from python.org (NOT Anaconda - we'll explain why later)</a:t>
            </a:r>
            <a:endParaRPr lang="en-US" sz="785" dirty="0"/>
          </a:p>
        </p:txBody>
      </p:sp>
      <p:sp>
        <p:nvSpPr>
          <p:cNvPr id="19" name="Shape 16"/>
          <p:cNvSpPr/>
          <p:nvPr/>
        </p:nvSpPr>
        <p:spPr>
          <a:xfrm>
            <a:off x="285750" y="3898311"/>
            <a:ext cx="5572125" cy="496491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357188" y="4021541"/>
            <a:ext cx="250031" cy="250031"/>
          </a:xfrm>
          <a:prstGeom prst="ellipse">
            <a:avLst/>
          </a:prstGeom>
          <a:solidFill>
            <a:srgbClr val="FF00FF"/>
          </a:solidFill>
          <a:ln/>
        </p:spPr>
      </p:sp>
      <p:sp>
        <p:nvSpPr>
          <p:cNvPr id="21" name="Text 18"/>
          <p:cNvSpPr/>
          <p:nvPr/>
        </p:nvSpPr>
        <p:spPr>
          <a:xfrm>
            <a:off x="357188" y="4021541"/>
            <a:ext cx="25003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692944" y="3969748"/>
            <a:ext cx="50934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 VS Code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692944" y="4184061"/>
            <a:ext cx="50934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Free download from code.visualstudio.com</a:t>
            </a:r>
            <a:endParaRPr lang="en-US" sz="785" dirty="0"/>
          </a:p>
        </p:txBody>
      </p:sp>
      <p:sp>
        <p:nvSpPr>
          <p:cNvPr id="24" name="Shape 21"/>
          <p:cNvSpPr/>
          <p:nvPr/>
        </p:nvSpPr>
        <p:spPr>
          <a:xfrm>
            <a:off x="285750" y="4480527"/>
            <a:ext cx="5572125" cy="496491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357188" y="4603756"/>
            <a:ext cx="250031" cy="250031"/>
          </a:xfrm>
          <a:prstGeom prst="ellipse">
            <a:avLst/>
          </a:prstGeom>
          <a:solidFill>
            <a:srgbClr val="FF00FF"/>
          </a:solidFill>
          <a:ln/>
        </p:spPr>
      </p:sp>
      <p:sp>
        <p:nvSpPr>
          <p:cNvPr id="26" name="Text 23"/>
          <p:cNvSpPr/>
          <p:nvPr/>
        </p:nvSpPr>
        <p:spPr>
          <a:xfrm>
            <a:off x="357188" y="4603756"/>
            <a:ext cx="25003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692944" y="4551964"/>
            <a:ext cx="50934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Extensions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692944" y="4766277"/>
            <a:ext cx="50934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extension + Jupyter extension (we'll show you how)</a:t>
            </a:r>
            <a:endParaRPr lang="en-US" sz="785" dirty="0"/>
          </a:p>
        </p:txBody>
      </p:sp>
      <p:sp>
        <p:nvSpPr>
          <p:cNvPr id="29" name="Shape 26"/>
          <p:cNvSpPr/>
          <p:nvPr/>
        </p:nvSpPr>
        <p:spPr>
          <a:xfrm>
            <a:off x="285750" y="5062742"/>
            <a:ext cx="5572125" cy="496491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57188" y="5185972"/>
            <a:ext cx="250031" cy="250031"/>
          </a:xfrm>
          <a:prstGeom prst="ellipse">
            <a:avLst/>
          </a:prstGeom>
          <a:solidFill>
            <a:srgbClr val="FF00FF"/>
          </a:solidFill>
          <a:ln/>
        </p:spPr>
      </p:sp>
      <p:sp>
        <p:nvSpPr>
          <p:cNvPr id="31" name="Text 28"/>
          <p:cNvSpPr/>
          <p:nvPr/>
        </p:nvSpPr>
        <p:spPr>
          <a:xfrm>
            <a:off x="357188" y="5185972"/>
            <a:ext cx="25003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692944" y="5134180"/>
            <a:ext cx="50934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 Coding!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692944" y="5348492"/>
            <a:ext cx="50934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your first Python file and run it</a:t>
            </a:r>
            <a:endParaRPr lang="en-US" sz="785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063" y="1775920"/>
            <a:ext cx="2500313" cy="2500313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285750" y="5737827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98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492919"/>
            <a:ext cx="55721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Coding Assistants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85750" y="1028700"/>
            <a:ext cx="55721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 tools that help you write code faster and with fewer errors. Think of them as smart autocomplete that understands programming! </a:t>
            </a:r>
            <a:endParaRPr lang="en-US" sz="1046" dirty="0"/>
          </a:p>
        </p:txBody>
      </p:sp>
      <p:sp>
        <p:nvSpPr>
          <p:cNvPr id="6" name="Shape 3"/>
          <p:cNvSpPr/>
          <p:nvPr/>
        </p:nvSpPr>
        <p:spPr>
          <a:xfrm>
            <a:off x="285750" y="1557338"/>
            <a:ext cx="5572125" cy="696516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57188" y="1628775"/>
            <a:ext cx="54292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Traditional LLMs with Coding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357188" y="1857375"/>
            <a:ext cx="54292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General AI assistants that can help with code through chat interfaces</a:t>
            </a:r>
            <a:endParaRPr lang="en-US" sz="785" dirty="0"/>
          </a:p>
        </p:txBody>
      </p:sp>
      <p:sp>
        <p:nvSpPr>
          <p:cNvPr id="9" name="Text 6"/>
          <p:cNvSpPr/>
          <p:nvPr/>
        </p:nvSpPr>
        <p:spPr>
          <a:xfrm>
            <a:off x="357188" y="2032397"/>
            <a:ext cx="54292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i="1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Examples: ChatGPT, Claude, Gemini - Great for learning and explaining code</a:t>
            </a:r>
            <a:endParaRPr lang="en-US" sz="732" dirty="0"/>
          </a:p>
        </p:txBody>
      </p:sp>
      <p:sp>
        <p:nvSpPr>
          <p:cNvPr id="10" name="Shape 7"/>
          <p:cNvSpPr/>
          <p:nvPr/>
        </p:nvSpPr>
        <p:spPr>
          <a:xfrm>
            <a:off x="285750" y="2339578"/>
            <a:ext cx="5572125" cy="696516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57188" y="2411016"/>
            <a:ext cx="54292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Cloud Environment Assistants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57188" y="2639616"/>
            <a:ext cx="54292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Built into cloud platforms, integrated with your notebooks</a:t>
            </a:r>
            <a:endParaRPr lang="en-US" sz="785" dirty="0"/>
          </a:p>
        </p:txBody>
      </p:sp>
      <p:sp>
        <p:nvSpPr>
          <p:cNvPr id="13" name="Text 10"/>
          <p:cNvSpPr/>
          <p:nvPr/>
        </p:nvSpPr>
        <p:spPr>
          <a:xfrm>
            <a:off x="357188" y="2814638"/>
            <a:ext cx="54292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i="1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Examples: Gemini in Colab, CodeWhisperer in SageMaker - We'll use these!</a:t>
            </a:r>
            <a:endParaRPr lang="en-US" sz="732" dirty="0"/>
          </a:p>
        </p:txBody>
      </p:sp>
      <p:sp>
        <p:nvSpPr>
          <p:cNvPr id="14" name="Shape 11"/>
          <p:cNvSpPr/>
          <p:nvPr/>
        </p:nvSpPr>
        <p:spPr>
          <a:xfrm>
            <a:off x="285750" y="3121819"/>
            <a:ext cx="5572125" cy="696516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57188" y="3193256"/>
            <a:ext cx="54292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IDE-Integrated Tools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357188" y="3421856"/>
            <a:ext cx="54292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Built into code editors, suggest code as you type</a:t>
            </a:r>
            <a:endParaRPr lang="en-US" sz="785" dirty="0"/>
          </a:p>
        </p:txBody>
      </p:sp>
      <p:sp>
        <p:nvSpPr>
          <p:cNvPr id="17" name="Text 14"/>
          <p:cNvSpPr/>
          <p:nvPr/>
        </p:nvSpPr>
        <p:spPr>
          <a:xfrm>
            <a:off x="357188" y="3596878"/>
            <a:ext cx="54292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i="1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Examples: GitHub Copilot in VS Code, Cursor AI editor - For advanced users</a:t>
            </a:r>
            <a:endParaRPr lang="en-US" sz="732" dirty="0"/>
          </a:p>
        </p:txBody>
      </p:sp>
      <p:sp>
        <p:nvSpPr>
          <p:cNvPr id="18" name="Shape 15"/>
          <p:cNvSpPr/>
          <p:nvPr/>
        </p:nvSpPr>
        <p:spPr>
          <a:xfrm>
            <a:off x="285750" y="3946922"/>
            <a:ext cx="5572125" cy="740048"/>
          </a:xfrm>
          <a:prstGeom prst="rect">
            <a:avLst/>
          </a:prstGeom>
          <a:solidFill>
            <a:srgbClr val="FFD700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285750" y="3946922"/>
            <a:ext cx="28575" cy="74004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0" name="Text 17"/>
          <p:cNvSpPr/>
          <p:nvPr/>
        </p:nvSpPr>
        <p:spPr>
          <a:xfrm>
            <a:off x="371475" y="4032647"/>
            <a:ext cx="54006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D7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This Course: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371475" y="4304109"/>
            <a:ext cx="540067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We'll start with cloud-based assistants (Gemini in Colab) and traditional LLMs for learning. As you advance, you can explore IDE tools like Copilot and Cursor.</a:t>
            </a:r>
            <a:endParaRPr lang="en-US" sz="837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063" y="1339788"/>
            <a:ext cx="2500313" cy="2500313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285750" y="4865563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3418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528638"/>
            <a:ext cx="41433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 &amp; GitHub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1057275"/>
            <a:ext cx="41433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 is a distributed version control system, while GitHub is a cloud-based hosting service for Git repositories that adds collaboration features. 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285750" y="1814513"/>
            <a:ext cx="4143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D7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Basic Git Workflow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464344" y="2135981"/>
            <a:ext cx="357188" cy="357188"/>
          </a:xfrm>
          <a:prstGeom prst="ellipse">
            <a:avLst/>
          </a:prstGeom>
          <a:solidFill>
            <a:srgbClr val="FF00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43138"/>
            <a:ext cx="142875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5750" y="2564606"/>
            <a:ext cx="7143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Edit Files</a:t>
            </a:r>
            <a:endParaRPr lang="en-US" sz="732" dirty="0"/>
          </a:p>
        </p:txBody>
      </p:sp>
      <p:sp>
        <p:nvSpPr>
          <p:cNvPr id="10" name="Shape 6"/>
          <p:cNvSpPr/>
          <p:nvPr/>
        </p:nvSpPr>
        <p:spPr>
          <a:xfrm>
            <a:off x="1607344" y="2135981"/>
            <a:ext cx="357188" cy="357188"/>
          </a:xfrm>
          <a:prstGeom prst="ellipse">
            <a:avLst/>
          </a:prstGeom>
          <a:solidFill>
            <a:srgbClr val="FF00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2243138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28750" y="2564606"/>
            <a:ext cx="7143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Stage Changes</a:t>
            </a:r>
            <a:endParaRPr lang="en-US" sz="732" dirty="0"/>
          </a:p>
        </p:txBody>
      </p:sp>
      <p:sp>
        <p:nvSpPr>
          <p:cNvPr id="13" name="Shape 8"/>
          <p:cNvSpPr/>
          <p:nvPr/>
        </p:nvSpPr>
        <p:spPr>
          <a:xfrm>
            <a:off x="2750344" y="2135981"/>
            <a:ext cx="357188" cy="357188"/>
          </a:xfrm>
          <a:prstGeom prst="ellipse">
            <a:avLst/>
          </a:prstGeom>
          <a:solidFill>
            <a:srgbClr val="FF00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2243138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571750" y="2564606"/>
            <a:ext cx="7143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Commit</a:t>
            </a:r>
            <a:endParaRPr lang="en-US" sz="732" dirty="0"/>
          </a:p>
        </p:txBody>
      </p:sp>
      <p:sp>
        <p:nvSpPr>
          <p:cNvPr id="16" name="Shape 10"/>
          <p:cNvSpPr/>
          <p:nvPr/>
        </p:nvSpPr>
        <p:spPr>
          <a:xfrm>
            <a:off x="3893344" y="2135981"/>
            <a:ext cx="357188" cy="357188"/>
          </a:xfrm>
          <a:prstGeom prst="ellipse">
            <a:avLst/>
          </a:prstGeom>
          <a:solidFill>
            <a:srgbClr val="FF00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2641" y="2243138"/>
            <a:ext cx="178594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714750" y="2564606"/>
            <a:ext cx="7143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Push</a:t>
            </a:r>
            <a:endParaRPr lang="en-US" sz="732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2864644"/>
            <a:ext cx="150019" cy="171450"/>
          </a:xfrm>
          <a:prstGeom prst="rect">
            <a:avLst/>
          </a:prstGeom>
        </p:spPr>
      </p:pic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2428" y="2864644"/>
            <a:ext cx="150019" cy="171450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1919" y="2864644"/>
            <a:ext cx="150019" cy="171450"/>
          </a:xfrm>
          <a:prstGeom prst="rect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750" y="3289697"/>
            <a:ext cx="112514" cy="12858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469702" y="3257550"/>
            <a:ext cx="183415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Branching &amp; merging for parallel development</a:t>
            </a:r>
            <a:endParaRPr lang="en-US" sz="837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1016" y="3289697"/>
            <a:ext cx="160734" cy="12858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2643188" y="3257550"/>
            <a:ext cx="154430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Pull requests for code review</a:t>
            </a:r>
            <a:endParaRPr lang="en-US" sz="837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5750" y="3693988"/>
            <a:ext cx="128588" cy="128588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485775" y="3661842"/>
            <a:ext cx="1818084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Issue tracking for bugs and features</a:t>
            </a:r>
            <a:endParaRPr lang="en-US" sz="837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11016" y="3693988"/>
            <a:ext cx="128588" cy="128588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2611041" y="3661842"/>
            <a:ext cx="1818084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boards for task management</a:t>
            </a:r>
            <a:endParaRPr lang="en-US" sz="837" dirty="0"/>
          </a:p>
        </p:txBody>
      </p:sp>
      <p:sp>
        <p:nvSpPr>
          <p:cNvPr id="30" name="Text 16"/>
          <p:cNvSpPr/>
          <p:nvPr/>
        </p:nvSpPr>
        <p:spPr>
          <a:xfrm>
            <a:off x="285750" y="4137571"/>
            <a:ext cx="4143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GitHub for ML Projects</a:t>
            </a:r>
            <a:endParaRPr lang="en-US" sz="1046" dirty="0"/>
          </a:p>
        </p:txBody>
      </p:sp>
      <p:sp>
        <p:nvSpPr>
          <p:cNvPr id="31" name="Shape 17"/>
          <p:cNvSpPr/>
          <p:nvPr/>
        </p:nvSpPr>
        <p:spPr>
          <a:xfrm>
            <a:off x="285750" y="4459039"/>
            <a:ext cx="1309678" cy="646509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4850" y="4587627"/>
            <a:ext cx="171450" cy="17145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380265" y="4866233"/>
            <a:ext cx="112064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Model Version Control </a:t>
            </a:r>
            <a:endParaRPr lang="en-US" sz="785" dirty="0"/>
          </a:p>
        </p:txBody>
      </p:sp>
      <p:sp>
        <p:nvSpPr>
          <p:cNvPr id="34" name="Shape 19"/>
          <p:cNvSpPr/>
          <p:nvPr/>
        </p:nvSpPr>
        <p:spPr>
          <a:xfrm>
            <a:off x="1702584" y="4459039"/>
            <a:ext cx="1309678" cy="646509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82400" y="4587627"/>
            <a:ext cx="150019" cy="171450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1811917" y="4866233"/>
            <a:ext cx="109098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Dataset Management </a:t>
            </a:r>
            <a:endParaRPr lang="en-US" sz="785" dirty="0"/>
          </a:p>
        </p:txBody>
      </p:sp>
      <p:sp>
        <p:nvSpPr>
          <p:cNvPr id="37" name="Shape 21"/>
          <p:cNvSpPr/>
          <p:nvPr/>
        </p:nvSpPr>
        <p:spPr>
          <a:xfrm>
            <a:off x="3119419" y="4459039"/>
            <a:ext cx="1309678" cy="646509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09950" y="4587627"/>
            <a:ext cx="128588" cy="171450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3257857" y="4866233"/>
            <a:ext cx="103277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Experiment Tracking </a:t>
            </a:r>
            <a:endParaRPr lang="en-US" sz="785" dirty="0"/>
          </a:p>
        </p:txBody>
      </p:sp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79219" y="1209749"/>
            <a:ext cx="3214688" cy="3214688"/>
          </a:xfrm>
          <a:prstGeom prst="rect">
            <a:avLst/>
          </a:prstGeom>
        </p:spPr>
      </p:pic>
      <p:sp>
        <p:nvSpPr>
          <p:cNvPr id="41" name="Shape 23"/>
          <p:cNvSpPr/>
          <p:nvPr/>
        </p:nvSpPr>
        <p:spPr>
          <a:xfrm>
            <a:off x="285750" y="5319861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478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528638"/>
            <a:ext cx="41433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Hugging Face Hub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1057275"/>
            <a:ext cx="41433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Hugging Face Hub is a platform for sharing and collaborating on machine learning models, datasets, and demos, with a focus on natural language processing and computer vision. 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285750" y="1814513"/>
            <a:ext cx="1285875" cy="1413011"/>
          </a:xfrm>
          <a:prstGeom prst="rect">
            <a:avLst/>
          </a:prstGeom>
          <a:solidFill>
            <a:srgbClr val="FFD700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50094" y="1921669"/>
            <a:ext cx="357188" cy="357188"/>
          </a:xfrm>
          <a:prstGeom prst="ellipse">
            <a:avLst/>
          </a:prstGeom>
          <a:solidFill>
            <a:srgbClr val="FFD70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3" y="2014538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2906" y="2350294"/>
            <a:ext cx="10715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D7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Models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392906" y="2600325"/>
            <a:ext cx="1071563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Pre-trained models ready for fine-tuning and inference across various tasks</a:t>
            </a:r>
            <a:endParaRPr lang="en-US" sz="732" dirty="0"/>
          </a:p>
        </p:txBody>
      </p:sp>
      <p:sp>
        <p:nvSpPr>
          <p:cNvPr id="11" name="Shape 7"/>
          <p:cNvSpPr/>
          <p:nvPr/>
        </p:nvSpPr>
        <p:spPr>
          <a:xfrm>
            <a:off x="1714500" y="1814513"/>
            <a:ext cx="1285875" cy="1413011"/>
          </a:xfrm>
          <a:prstGeom prst="rect">
            <a:avLst/>
          </a:prstGeom>
          <a:solidFill>
            <a:srgbClr val="FFD700">
              <a:alpha val="1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2178844" y="1921669"/>
            <a:ext cx="357188" cy="357188"/>
          </a:xfrm>
          <a:prstGeom prst="ellipse">
            <a:avLst/>
          </a:prstGeom>
          <a:solidFill>
            <a:srgbClr val="FFD70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428" y="2014538"/>
            <a:ext cx="150019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1656" y="2350294"/>
            <a:ext cx="10715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D7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Datasets</a:t>
            </a:r>
            <a:endParaRPr lang="en-US" sz="942" dirty="0"/>
          </a:p>
        </p:txBody>
      </p:sp>
      <p:sp>
        <p:nvSpPr>
          <p:cNvPr id="15" name="Text 10"/>
          <p:cNvSpPr/>
          <p:nvPr/>
        </p:nvSpPr>
        <p:spPr>
          <a:xfrm>
            <a:off x="1821656" y="2600325"/>
            <a:ext cx="1071563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Curated datasets for training and evaluating machine learning models</a:t>
            </a:r>
            <a:endParaRPr lang="en-US" sz="732" dirty="0"/>
          </a:p>
        </p:txBody>
      </p:sp>
      <p:sp>
        <p:nvSpPr>
          <p:cNvPr id="16" name="Shape 11"/>
          <p:cNvSpPr/>
          <p:nvPr/>
        </p:nvSpPr>
        <p:spPr>
          <a:xfrm>
            <a:off x="3143250" y="1814513"/>
            <a:ext cx="1285875" cy="1413011"/>
          </a:xfrm>
          <a:prstGeom prst="rect">
            <a:avLst/>
          </a:prstGeom>
          <a:solidFill>
            <a:srgbClr val="FFD700">
              <a:alpha val="10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3607594" y="1921669"/>
            <a:ext cx="357188" cy="357188"/>
          </a:xfrm>
          <a:prstGeom prst="ellipse">
            <a:avLst/>
          </a:prstGeom>
          <a:solidFill>
            <a:srgbClr val="FFD70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747" y="2014538"/>
            <a:ext cx="192881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250406" y="2350294"/>
            <a:ext cx="10715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D7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Spaces</a:t>
            </a:r>
            <a:endParaRPr lang="en-US" sz="942" dirty="0"/>
          </a:p>
        </p:txBody>
      </p:sp>
      <p:sp>
        <p:nvSpPr>
          <p:cNvPr id="20" name="Text 14"/>
          <p:cNvSpPr/>
          <p:nvPr/>
        </p:nvSpPr>
        <p:spPr>
          <a:xfrm>
            <a:off x="3250406" y="2600325"/>
            <a:ext cx="1071563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Interactive demos and applications to showcase ML projects</a:t>
            </a:r>
            <a:endParaRPr lang="en-US" sz="732" dirty="0"/>
          </a:p>
        </p:txBody>
      </p:sp>
      <p:sp>
        <p:nvSpPr>
          <p:cNvPr id="21" name="Text 15"/>
          <p:cNvSpPr/>
          <p:nvPr/>
        </p:nvSpPr>
        <p:spPr>
          <a:xfrm>
            <a:off x="285750" y="3406118"/>
            <a:ext cx="4143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Transformers Library</a:t>
            </a:r>
            <a:endParaRPr lang="en-US" sz="1046" dirty="0"/>
          </a:p>
        </p:txBody>
      </p:sp>
      <p:sp>
        <p:nvSpPr>
          <p:cNvPr id="22" name="Text 16"/>
          <p:cNvSpPr/>
          <p:nvPr/>
        </p:nvSpPr>
        <p:spPr>
          <a:xfrm>
            <a:off x="285750" y="3727586"/>
            <a:ext cx="41433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Python library providing thousands of pre-trained models for various ML tasks with a unified API. </a:t>
            </a:r>
            <a:endParaRPr lang="en-US" sz="837" dirty="0"/>
          </a:p>
        </p:txBody>
      </p:sp>
      <p:sp>
        <p:nvSpPr>
          <p:cNvPr id="23" name="Shape 17"/>
          <p:cNvSpPr/>
          <p:nvPr/>
        </p:nvSpPr>
        <p:spPr>
          <a:xfrm>
            <a:off x="285750" y="4154760"/>
            <a:ext cx="2018109" cy="335756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8" y="4258345"/>
            <a:ext cx="128588" cy="1285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7213" y="4242271"/>
            <a:ext cx="89282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 Classification</a:t>
            </a:r>
            <a:endParaRPr lang="en-US" sz="785" dirty="0"/>
          </a:p>
        </p:txBody>
      </p:sp>
      <p:sp>
        <p:nvSpPr>
          <p:cNvPr id="26" name="Shape 19"/>
          <p:cNvSpPr/>
          <p:nvPr/>
        </p:nvSpPr>
        <p:spPr>
          <a:xfrm>
            <a:off x="2411016" y="4154760"/>
            <a:ext cx="2018109" cy="335756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2453" y="4258345"/>
            <a:ext cx="160734" cy="1285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714625" y="4242271"/>
            <a:ext cx="55916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Translation</a:t>
            </a:r>
            <a:endParaRPr lang="en-US" sz="785" dirty="0"/>
          </a:p>
        </p:txBody>
      </p:sp>
      <p:sp>
        <p:nvSpPr>
          <p:cNvPr id="29" name="Shape 21"/>
          <p:cNvSpPr/>
          <p:nvPr/>
        </p:nvSpPr>
        <p:spPr>
          <a:xfrm>
            <a:off x="285750" y="4597673"/>
            <a:ext cx="2018109" cy="335756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188" y="4701257"/>
            <a:ext cx="128588" cy="1285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57213" y="4685184"/>
            <a:ext cx="10100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 Classification</a:t>
            </a:r>
            <a:endParaRPr lang="en-US" sz="785" dirty="0"/>
          </a:p>
        </p:txBody>
      </p:sp>
      <p:sp>
        <p:nvSpPr>
          <p:cNvPr id="32" name="Shape 23"/>
          <p:cNvSpPr/>
          <p:nvPr/>
        </p:nvSpPr>
        <p:spPr>
          <a:xfrm>
            <a:off x="2411016" y="4597673"/>
            <a:ext cx="2018109" cy="335756"/>
          </a:xfrm>
          <a:prstGeom prst="rect">
            <a:avLst/>
          </a:prstGeom>
          <a:solidFill>
            <a:srgbClr val="00BFFF">
              <a:alpha val="10000"/>
            </a:srgbClr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2453" y="4701257"/>
            <a:ext cx="96441" cy="12858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2650331" y="4685184"/>
            <a:ext cx="99164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Speech Recognition</a:t>
            </a:r>
            <a:endParaRPr lang="en-US" sz="785" dirty="0"/>
          </a:p>
        </p:txBody>
      </p:sp>
      <p:sp>
        <p:nvSpPr>
          <p:cNvPr id="35" name="Text 25"/>
          <p:cNvSpPr/>
          <p:nvPr/>
        </p:nvSpPr>
        <p:spPr>
          <a:xfrm>
            <a:off x="285750" y="5112023"/>
            <a:ext cx="41433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Community-Driven Platform</a:t>
            </a:r>
            <a:endParaRPr lang="en-US" sz="942" dirty="0"/>
          </a:p>
        </p:txBody>
      </p:sp>
      <p:sp>
        <p:nvSpPr>
          <p:cNvPr id="36" name="Text 26"/>
          <p:cNvSpPr/>
          <p:nvPr/>
        </p:nvSpPr>
        <p:spPr>
          <a:xfrm>
            <a:off x="285750" y="5376342"/>
            <a:ext cx="130967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100K+</a:t>
            </a:r>
            <a:endParaRPr lang="en-US" sz="1350" dirty="0"/>
          </a:p>
        </p:txBody>
      </p:sp>
      <p:sp>
        <p:nvSpPr>
          <p:cNvPr id="37" name="Text 27"/>
          <p:cNvSpPr/>
          <p:nvPr/>
        </p:nvSpPr>
        <p:spPr>
          <a:xfrm>
            <a:off x="285750" y="5669235"/>
            <a:ext cx="130967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Models</a:t>
            </a:r>
            <a:endParaRPr lang="en-US" sz="732" dirty="0"/>
          </a:p>
        </p:txBody>
      </p:sp>
      <p:sp>
        <p:nvSpPr>
          <p:cNvPr id="38" name="Text 28"/>
          <p:cNvSpPr/>
          <p:nvPr/>
        </p:nvSpPr>
        <p:spPr>
          <a:xfrm>
            <a:off x="1702584" y="5376342"/>
            <a:ext cx="130967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20K+</a:t>
            </a:r>
            <a:endParaRPr lang="en-US" sz="1350" dirty="0"/>
          </a:p>
        </p:txBody>
      </p:sp>
      <p:sp>
        <p:nvSpPr>
          <p:cNvPr id="39" name="Text 29"/>
          <p:cNvSpPr/>
          <p:nvPr/>
        </p:nvSpPr>
        <p:spPr>
          <a:xfrm>
            <a:off x="1702584" y="5669235"/>
            <a:ext cx="130967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Datasets</a:t>
            </a:r>
            <a:endParaRPr lang="en-US" sz="732" dirty="0"/>
          </a:p>
        </p:txBody>
      </p:sp>
      <p:sp>
        <p:nvSpPr>
          <p:cNvPr id="40" name="Text 30"/>
          <p:cNvSpPr/>
          <p:nvPr/>
        </p:nvSpPr>
        <p:spPr>
          <a:xfrm>
            <a:off x="3119419" y="5376342"/>
            <a:ext cx="130967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150K+</a:t>
            </a:r>
            <a:endParaRPr lang="en-US" sz="1350" dirty="0"/>
          </a:p>
        </p:txBody>
      </p:sp>
      <p:sp>
        <p:nvSpPr>
          <p:cNvPr id="41" name="Text 31"/>
          <p:cNvSpPr/>
          <p:nvPr/>
        </p:nvSpPr>
        <p:spPr>
          <a:xfrm>
            <a:off x="3119419" y="5669235"/>
            <a:ext cx="130967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Developers</a:t>
            </a:r>
            <a:endParaRPr lang="en-US" sz="732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9219" y="1566602"/>
            <a:ext cx="3214688" cy="3214688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285750" y="6033567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1785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492919"/>
            <a:ext cx="55721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Setting Up Your ML Development Workflow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85750" y="1457325"/>
            <a:ext cx="55721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step-by-step approach to creating an effective ML development environment from scratch. </a:t>
            </a:r>
            <a:endParaRPr lang="en-US" sz="1046" dirty="0"/>
          </a:p>
        </p:txBody>
      </p:sp>
      <p:sp>
        <p:nvSpPr>
          <p:cNvPr id="6" name="Shape 3"/>
          <p:cNvSpPr/>
          <p:nvPr/>
        </p:nvSpPr>
        <p:spPr>
          <a:xfrm>
            <a:off x="285750" y="2000250"/>
            <a:ext cx="5572125" cy="867240"/>
          </a:xfrm>
          <a:prstGeom prst="rect">
            <a:avLst/>
          </a:prstGeom>
          <a:solidFill>
            <a:srgbClr val="FFD700">
              <a:alpha val="2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85750" y="2000250"/>
            <a:ext cx="28575" cy="8672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8" name="Text 5"/>
          <p:cNvSpPr/>
          <p:nvPr/>
        </p:nvSpPr>
        <p:spPr>
          <a:xfrm>
            <a:off x="392906" y="2107406"/>
            <a:ext cx="53578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D7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Course Strategy: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392906" y="2400300"/>
            <a:ext cx="53578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 with cloud environments (no setup needed), then learn local development for advanced projects.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285750" y="3142524"/>
            <a:ext cx="250031" cy="250031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1" name="Text 8"/>
          <p:cNvSpPr/>
          <p:nvPr/>
        </p:nvSpPr>
        <p:spPr>
          <a:xfrm>
            <a:off x="285750" y="3142524"/>
            <a:ext cx="25003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621506" y="3010365"/>
            <a:ext cx="52363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 with Cloud (Week 1-4)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21506" y="3224678"/>
            <a:ext cx="52363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Colab and AWS SageMaker Studio Lab - no installation required</a:t>
            </a:r>
            <a:endParaRPr lang="en-US" sz="785" dirty="0"/>
          </a:p>
        </p:txBody>
      </p:sp>
      <p:sp>
        <p:nvSpPr>
          <p:cNvPr id="14" name="Text 11"/>
          <p:cNvSpPr/>
          <p:nvPr/>
        </p:nvSpPr>
        <p:spPr>
          <a:xfrm>
            <a:off x="621506" y="3385412"/>
            <a:ext cx="52363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Perfect for learning basics without technical setup barriers</a:t>
            </a:r>
            <a:endParaRPr lang="en-US" sz="680" dirty="0"/>
          </a:p>
        </p:txBody>
      </p:sp>
      <p:sp>
        <p:nvSpPr>
          <p:cNvPr id="15" name="Shape 12"/>
          <p:cNvSpPr/>
          <p:nvPr/>
        </p:nvSpPr>
        <p:spPr>
          <a:xfrm>
            <a:off x="285750" y="3742599"/>
            <a:ext cx="250031" cy="250031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6" name="Text 13"/>
          <p:cNvSpPr/>
          <p:nvPr/>
        </p:nvSpPr>
        <p:spPr>
          <a:xfrm>
            <a:off x="285750" y="3742599"/>
            <a:ext cx="25003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621506" y="3610440"/>
            <a:ext cx="52363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 Python Locally (Week 5+)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621506" y="3824753"/>
            <a:ext cx="52363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 Python from python.org + virtual environments</a:t>
            </a:r>
            <a:endParaRPr lang="en-US" sz="785" dirty="0"/>
          </a:p>
        </p:txBody>
      </p:sp>
      <p:sp>
        <p:nvSpPr>
          <p:cNvPr id="19" name="Text 16"/>
          <p:cNvSpPr/>
          <p:nvPr/>
        </p:nvSpPr>
        <p:spPr>
          <a:xfrm>
            <a:off x="621506" y="3985487"/>
            <a:ext cx="52363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Professional approach used in industry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285750" y="4342674"/>
            <a:ext cx="250031" cy="250031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21" name="Text 18"/>
          <p:cNvSpPr/>
          <p:nvPr/>
        </p:nvSpPr>
        <p:spPr>
          <a:xfrm>
            <a:off x="285750" y="4342674"/>
            <a:ext cx="25003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621506" y="4210515"/>
            <a:ext cx="52363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 Up VS Code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621506" y="4424828"/>
            <a:ext cx="52363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 Python and Jupyter extensions for local development</a:t>
            </a:r>
            <a:endParaRPr lang="en-US" sz="785" dirty="0"/>
          </a:p>
        </p:txBody>
      </p:sp>
      <p:sp>
        <p:nvSpPr>
          <p:cNvPr id="24" name="Text 21"/>
          <p:cNvSpPr/>
          <p:nvPr/>
        </p:nvSpPr>
        <p:spPr>
          <a:xfrm>
            <a:off x="621506" y="4585562"/>
            <a:ext cx="52363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Industry-standard IDE with AI coding assistants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285750" y="4942749"/>
            <a:ext cx="250031" cy="250031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26" name="Text 23"/>
          <p:cNvSpPr/>
          <p:nvPr/>
        </p:nvSpPr>
        <p:spPr>
          <a:xfrm>
            <a:off x="285750" y="4942749"/>
            <a:ext cx="250031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621506" y="4810590"/>
            <a:ext cx="52363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Version Control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621506" y="5024903"/>
            <a:ext cx="52363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 and GitHub for project management and collaboration</a:t>
            </a:r>
            <a:endParaRPr lang="en-US" sz="785" dirty="0"/>
          </a:p>
        </p:txBody>
      </p:sp>
      <p:sp>
        <p:nvSpPr>
          <p:cNvPr id="29" name="Text 26"/>
          <p:cNvSpPr/>
          <p:nvPr/>
        </p:nvSpPr>
        <p:spPr>
          <a:xfrm>
            <a:off x="621506" y="5185637"/>
            <a:ext cx="52363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Essential for any professional development work</a:t>
            </a:r>
            <a:endParaRPr lang="en-US" sz="68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063" y="1658773"/>
            <a:ext cx="2500313" cy="2500313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285750" y="5503534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6070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492919"/>
            <a:ext cx="55721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Not Anaconda for AI Professionals?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85750" y="1457325"/>
            <a:ext cx="55721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While Anaconda is popular for beginners, AI professionals prefer more precise control over their development environment. 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285750" y="2000250"/>
            <a:ext cx="55721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0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Issues with Anaconda:</a:t>
            </a:r>
            <a:endParaRPr lang="en-US" sz="1238" dirty="0"/>
          </a:p>
        </p:txBody>
      </p:sp>
      <p:sp>
        <p:nvSpPr>
          <p:cNvPr id="7" name="Shape 4"/>
          <p:cNvSpPr/>
          <p:nvPr/>
        </p:nvSpPr>
        <p:spPr>
          <a:xfrm>
            <a:off x="285750" y="2343150"/>
            <a:ext cx="5572125" cy="350044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2461022"/>
            <a:ext cx="128588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213" y="2411016"/>
            <a:ext cx="4735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Bloated: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1030765" y="2411016"/>
            <a:ext cx="36684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Installs 250+ packages you may never use, taking up 3+ GB of space</a:t>
            </a:r>
            <a:endParaRPr lang="en-US" sz="837" dirty="0"/>
          </a:p>
        </p:txBody>
      </p:sp>
      <p:sp>
        <p:nvSpPr>
          <p:cNvPr id="11" name="Shape 7"/>
          <p:cNvSpPr/>
          <p:nvPr/>
        </p:nvSpPr>
        <p:spPr>
          <a:xfrm>
            <a:off x="285750" y="2778919"/>
            <a:ext cx="5572125" cy="350044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8" y="2896791"/>
            <a:ext cx="80367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8992" y="2846784"/>
            <a:ext cx="9598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Licensing Issues: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1468794" y="2846784"/>
            <a:ext cx="31783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Commercial use now requires paid licenses (2024 changes)</a:t>
            </a:r>
            <a:endParaRPr lang="en-US" sz="837" dirty="0"/>
          </a:p>
        </p:txBody>
      </p:sp>
      <p:sp>
        <p:nvSpPr>
          <p:cNvPr id="15" name="Shape 10"/>
          <p:cNvSpPr/>
          <p:nvPr/>
        </p:nvSpPr>
        <p:spPr>
          <a:xfrm>
            <a:off x="285750" y="3214688"/>
            <a:ext cx="5572125" cy="350044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3332559"/>
            <a:ext cx="128588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7213" y="3282553"/>
            <a:ext cx="12660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Dependency Conflicts:</a:t>
            </a:r>
            <a:endParaRPr lang="en-US" sz="837" dirty="0"/>
          </a:p>
        </p:txBody>
      </p:sp>
      <p:sp>
        <p:nvSpPr>
          <p:cNvPr id="18" name="Text 12"/>
          <p:cNvSpPr/>
          <p:nvPr/>
        </p:nvSpPr>
        <p:spPr>
          <a:xfrm>
            <a:off x="1823219" y="3282553"/>
            <a:ext cx="34282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Can create version conflicts with system Python and other tools</a:t>
            </a:r>
            <a:endParaRPr lang="en-US" sz="837" dirty="0"/>
          </a:p>
        </p:txBody>
      </p:sp>
      <p:sp>
        <p:nvSpPr>
          <p:cNvPr id="19" name="Shape 13"/>
          <p:cNvSpPr/>
          <p:nvPr/>
        </p:nvSpPr>
        <p:spPr>
          <a:xfrm>
            <a:off x="285750" y="3650456"/>
            <a:ext cx="5572125" cy="350044"/>
          </a:xfrm>
          <a:prstGeom prst="rect">
            <a:avLst/>
          </a:prstGeom>
          <a:solidFill>
            <a:srgbClr val="FF00FF">
              <a:alpha val="10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428625" y="3718322"/>
            <a:ext cx="9200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Slower Updates:</a:t>
            </a:r>
            <a:endParaRPr lang="en-US" sz="837" dirty="0"/>
          </a:p>
        </p:txBody>
      </p:sp>
      <p:sp>
        <p:nvSpPr>
          <p:cNvPr id="21" name="Text 15"/>
          <p:cNvSpPr/>
          <p:nvPr/>
        </p:nvSpPr>
        <p:spPr>
          <a:xfrm>
            <a:off x="1348634" y="3718322"/>
            <a:ext cx="37465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Often lags behind latest package versions needed for cutting-edge AI</a:t>
            </a:r>
            <a:endParaRPr lang="en-US" sz="837" dirty="0"/>
          </a:p>
        </p:txBody>
      </p:sp>
      <p:sp>
        <p:nvSpPr>
          <p:cNvPr id="22" name="Shape 16"/>
          <p:cNvSpPr/>
          <p:nvPr/>
        </p:nvSpPr>
        <p:spPr>
          <a:xfrm>
            <a:off x="285750" y="4143375"/>
            <a:ext cx="5572125" cy="1124415"/>
          </a:xfrm>
          <a:prstGeom prst="rect">
            <a:avLst/>
          </a:prstGeom>
          <a:solidFill>
            <a:srgbClr val="00BFFF">
              <a:alpha val="20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285750" y="4143375"/>
            <a:ext cx="28575" cy="1124415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24" name="Text 18"/>
          <p:cNvSpPr/>
          <p:nvPr/>
        </p:nvSpPr>
        <p:spPr>
          <a:xfrm>
            <a:off x="392906" y="4250531"/>
            <a:ext cx="53578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00B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Professional Approach:</a:t>
            </a:r>
            <a:endParaRPr lang="en-US" sz="1238" dirty="0"/>
          </a:p>
        </p:txBody>
      </p:sp>
      <p:sp>
        <p:nvSpPr>
          <p:cNvPr id="25" name="Text 19"/>
          <p:cNvSpPr/>
          <p:nvPr/>
        </p:nvSpPr>
        <p:spPr>
          <a:xfrm>
            <a:off x="392906" y="4557713"/>
            <a:ext cx="53578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standard Python + virtual environments (venv) + pip for precise control over dependencies</a:t>
            </a:r>
            <a:endParaRPr lang="en-US" sz="942" dirty="0"/>
          </a:p>
        </p:txBody>
      </p:sp>
      <p:sp>
        <p:nvSpPr>
          <p:cNvPr id="26" name="Text 20"/>
          <p:cNvSpPr/>
          <p:nvPr/>
        </p:nvSpPr>
        <p:spPr>
          <a:xfrm>
            <a:off x="392906" y="4989184"/>
            <a:ext cx="53578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i="1" dirty="0">
                <a:solidFill>
                  <a:srgbClr val="CCCC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Lightweight ✓ Current packages ✓ No licensing issues ✓ Industry standard</a:t>
            </a:r>
            <a:endParaRPr lang="en-US" sz="837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3" y="1630198"/>
            <a:ext cx="2500313" cy="2500313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285750" y="5446384"/>
            <a:ext cx="8572500" cy="28575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2025-08-24T16:08:03Z</dcterms:created>
  <dcterms:modified xsi:type="dcterms:W3CDTF">2025-08-24T16:08:03Z</dcterms:modified>
</cp:coreProperties>
</file>